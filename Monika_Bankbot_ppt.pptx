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4630400" cy="8229600"/>
  <p:notesSz cx="8229600" cy="14630400"/>
  <p:embeddedFontLst>
    <p:embeddedFont>
      <p:font typeface="Inter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7A68E5-CBE0-4920-AD12-7559E5948DED}" v="8" dt="2026-01-17T13:14:27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5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V" userId="5a13094d69e8e0f7" providerId="LiveId" clId="{AC41CA34-BE7D-4218-A28A-B865F2988518}"/>
    <pc:docChg chg="custSel addSld modSld">
      <pc:chgData name="Monika V" userId="5a13094d69e8e0f7" providerId="LiveId" clId="{AC41CA34-BE7D-4218-A28A-B865F2988518}" dt="2026-01-17T13:15:14.444" v="79" actId="1076"/>
      <pc:docMkLst>
        <pc:docMk/>
      </pc:docMkLst>
      <pc:sldChg chg="addSp delSp modSp mod">
        <pc:chgData name="Monika V" userId="5a13094d69e8e0f7" providerId="LiveId" clId="{AC41CA34-BE7D-4218-A28A-B865F2988518}" dt="2026-01-17T13:12:20.697" v="60" actId="1076"/>
        <pc:sldMkLst>
          <pc:docMk/>
          <pc:sldMk cId="0" sldId="269"/>
        </pc:sldMkLst>
        <pc:spChg chg="add mod">
          <ac:chgData name="Monika V" userId="5a13094d69e8e0f7" providerId="LiveId" clId="{AC41CA34-BE7D-4218-A28A-B865F2988518}" dt="2026-01-17T13:11:43.550" v="54" actId="1076"/>
          <ac:spMkLst>
            <pc:docMk/>
            <pc:sldMk cId="0" sldId="269"/>
            <ac:spMk id="21" creationId="{E512FBCD-4228-C080-364E-2A604D04E74A}"/>
          </ac:spMkLst>
        </pc:spChg>
        <pc:spChg chg="add mod">
          <ac:chgData name="Monika V" userId="5a13094d69e8e0f7" providerId="LiveId" clId="{AC41CA34-BE7D-4218-A28A-B865F2988518}" dt="2026-01-17T13:09:51.694" v="37" actId="1076"/>
          <ac:spMkLst>
            <pc:docMk/>
            <pc:sldMk cId="0" sldId="269"/>
            <ac:spMk id="22" creationId="{5CB9F92A-1757-634D-C418-FC67930D14D1}"/>
          </ac:spMkLst>
        </pc:spChg>
        <pc:spChg chg="add mod">
          <ac:chgData name="Monika V" userId="5a13094d69e8e0f7" providerId="LiveId" clId="{AC41CA34-BE7D-4218-A28A-B865F2988518}" dt="2026-01-17T13:10:12.508" v="45" actId="1076"/>
          <ac:spMkLst>
            <pc:docMk/>
            <pc:sldMk cId="0" sldId="269"/>
            <ac:spMk id="23" creationId="{7A6DE6B3-7AD8-7E2E-02C3-4705BA397683}"/>
          </ac:spMkLst>
        </pc:spChg>
        <pc:spChg chg="add mod">
          <ac:chgData name="Monika V" userId="5a13094d69e8e0f7" providerId="LiveId" clId="{AC41CA34-BE7D-4218-A28A-B865F2988518}" dt="2026-01-17T13:10:18.955" v="46" actId="1076"/>
          <ac:spMkLst>
            <pc:docMk/>
            <pc:sldMk cId="0" sldId="269"/>
            <ac:spMk id="24" creationId="{FDD0BBF5-95E1-38C1-1A8B-B86F34CBFE5F}"/>
          </ac:spMkLst>
        </pc:spChg>
        <pc:picChg chg="del mod">
          <ac:chgData name="Monika V" userId="5a13094d69e8e0f7" providerId="LiveId" clId="{AC41CA34-BE7D-4218-A28A-B865F2988518}" dt="2026-01-17T13:07:26.933" v="11" actId="21"/>
          <ac:picMkLst>
            <pc:docMk/>
            <pc:sldMk cId="0" sldId="269"/>
            <ac:picMk id="7" creationId="{00000000-0000-0000-0000-000000000000}"/>
          </ac:picMkLst>
        </pc:picChg>
        <pc:picChg chg="mod">
          <ac:chgData name="Monika V" userId="5a13094d69e8e0f7" providerId="LiveId" clId="{AC41CA34-BE7D-4218-A28A-B865F2988518}" dt="2026-01-17T13:12:20.697" v="60" actId="1076"/>
          <ac:picMkLst>
            <pc:docMk/>
            <pc:sldMk cId="0" sldId="269"/>
            <ac:picMk id="8" creationId="{00000000-0000-0000-0000-000000000000}"/>
          </ac:picMkLst>
        </pc:picChg>
        <pc:picChg chg="del mod">
          <ac:chgData name="Monika V" userId="5a13094d69e8e0f7" providerId="LiveId" clId="{AC41CA34-BE7D-4218-A28A-B865F2988518}" dt="2026-01-17T13:07:33.747" v="13" actId="21"/>
          <ac:picMkLst>
            <pc:docMk/>
            <pc:sldMk cId="0" sldId="269"/>
            <ac:picMk id="11" creationId="{00000000-0000-0000-0000-000000000000}"/>
          </ac:picMkLst>
        </pc:picChg>
        <pc:picChg chg="mod">
          <ac:chgData name="Monika V" userId="5a13094d69e8e0f7" providerId="LiveId" clId="{AC41CA34-BE7D-4218-A28A-B865F2988518}" dt="2026-01-17T13:11:56.999" v="56" actId="1076"/>
          <ac:picMkLst>
            <pc:docMk/>
            <pc:sldMk cId="0" sldId="269"/>
            <ac:picMk id="12" creationId="{00000000-0000-0000-0000-000000000000}"/>
          </ac:picMkLst>
        </pc:picChg>
        <pc:picChg chg="del mod">
          <ac:chgData name="Monika V" userId="5a13094d69e8e0f7" providerId="LiveId" clId="{AC41CA34-BE7D-4218-A28A-B865F2988518}" dt="2026-01-17T13:07:22.600" v="10" actId="21"/>
          <ac:picMkLst>
            <pc:docMk/>
            <pc:sldMk cId="0" sldId="269"/>
            <ac:picMk id="15" creationId="{00000000-0000-0000-0000-000000000000}"/>
          </ac:picMkLst>
        </pc:picChg>
        <pc:picChg chg="del mod">
          <ac:chgData name="Monika V" userId="5a13094d69e8e0f7" providerId="LiveId" clId="{AC41CA34-BE7D-4218-A28A-B865F2988518}" dt="2026-01-17T13:07:30.323" v="12" actId="21"/>
          <ac:picMkLst>
            <pc:docMk/>
            <pc:sldMk cId="0" sldId="269"/>
            <ac:picMk id="19" creationId="{00000000-0000-0000-0000-000000000000}"/>
          </ac:picMkLst>
        </pc:picChg>
        <pc:picChg chg="mod">
          <ac:chgData name="Monika V" userId="5a13094d69e8e0f7" providerId="LiveId" clId="{AC41CA34-BE7D-4218-A28A-B865F2988518}" dt="2026-01-17T13:11:51.256" v="55" actId="1076"/>
          <ac:picMkLst>
            <pc:docMk/>
            <pc:sldMk cId="0" sldId="269"/>
            <ac:picMk id="20" creationId="{00000000-0000-0000-0000-000000000000}"/>
          </ac:picMkLst>
        </pc:picChg>
      </pc:sldChg>
      <pc:sldChg chg="addSp modSp new mod">
        <pc:chgData name="Monika V" userId="5a13094d69e8e0f7" providerId="LiveId" clId="{AC41CA34-BE7D-4218-A28A-B865F2988518}" dt="2026-01-17T13:15:14.444" v="79" actId="1076"/>
        <pc:sldMkLst>
          <pc:docMk/>
          <pc:sldMk cId="3924189465" sldId="274"/>
        </pc:sldMkLst>
        <pc:spChg chg="add mod">
          <ac:chgData name="Monika V" userId="5a13094d69e8e0f7" providerId="LiveId" clId="{AC41CA34-BE7D-4218-A28A-B865F2988518}" dt="2026-01-17T13:15:14.444" v="79" actId="1076"/>
          <ac:spMkLst>
            <pc:docMk/>
            <pc:sldMk cId="3924189465" sldId="274"/>
            <ac:spMk id="2" creationId="{4EA59DB1-2818-11AB-43E0-2C9E6FE5E3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svg"/><Relationship Id="rId3" Type="http://schemas.openxmlformats.org/officeDocument/2006/relationships/image" Target="../media/image29.png"/><Relationship Id="rId7" Type="http://schemas.openxmlformats.org/officeDocument/2006/relationships/image" Target="../media/image33.sv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742611"/>
            <a:ext cx="645080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   BANKBOT_CHATBOT</a:t>
            </a:r>
            <a:endParaRPr lang="en-US" sz="4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4143" y="600313"/>
            <a:ext cx="2019657" cy="410408"/>
          </a:xfrm>
          <a:prstGeom prst="roundRect">
            <a:avLst>
              <a:gd name="adj" fmla="val 17875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95112" y="665798"/>
            <a:ext cx="1757720" cy="279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4143" y="1097994"/>
            <a:ext cx="7615714" cy="1432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Intelligent Banking Assistance</a:t>
            </a:r>
            <a:endParaRPr lang="en-US" sz="4500" dirty="0"/>
          </a:p>
        </p:txBody>
      </p:sp>
      <p:sp>
        <p:nvSpPr>
          <p:cNvPr id="6" name="Shape 3"/>
          <p:cNvSpPr/>
          <p:nvPr/>
        </p:nvSpPr>
        <p:spPr>
          <a:xfrm>
            <a:off x="764143" y="2858214"/>
            <a:ext cx="873323" cy="1869043"/>
          </a:xfrm>
          <a:prstGeom prst="roundRect">
            <a:avLst>
              <a:gd name="adj" fmla="val 360011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034" y="3629025"/>
            <a:ext cx="327422" cy="3274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55708" y="3076456"/>
            <a:ext cx="6524149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BankBot is an advanced AI-powered chatbot designed to streamline banking interactions, offering a seamless and intuitive user experience for a variety of financial services.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764143" y="4945499"/>
            <a:ext cx="873323" cy="2685098"/>
          </a:xfrm>
          <a:prstGeom prst="roundRect">
            <a:avLst>
              <a:gd name="adj" fmla="val 360011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7034" y="6124337"/>
            <a:ext cx="327422" cy="32742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55708" y="5163741"/>
            <a:ext cx="6524149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Leverages sophisticated AI for natural language understanding.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855708" y="5938718"/>
            <a:ext cx="6524149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Performs intent recognition and entity classification for precise responses.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855708" y="6713696"/>
            <a:ext cx="6524149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securely with an SQLite database for data management.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7829" y="741998"/>
            <a:ext cx="1313498" cy="390644"/>
          </a:xfrm>
          <a:prstGeom prst="roundRect">
            <a:avLst>
              <a:gd name="adj" fmla="val 17887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52488" y="804267"/>
            <a:ext cx="1064181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7829" y="1215747"/>
            <a:ext cx="7688342" cy="1364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Objective: Understanding User Needs</a:t>
            </a:r>
            <a:endParaRPr lang="en-US" sz="4250" dirty="0"/>
          </a:p>
        </p:txBody>
      </p:sp>
      <p:sp>
        <p:nvSpPr>
          <p:cNvPr id="6" name="Shape 3"/>
          <p:cNvSpPr/>
          <p:nvPr/>
        </p:nvSpPr>
        <p:spPr>
          <a:xfrm>
            <a:off x="727829" y="3204091"/>
            <a:ext cx="3740229" cy="2214682"/>
          </a:xfrm>
          <a:prstGeom prst="roundRect">
            <a:avLst>
              <a:gd name="adj" fmla="val 4955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27829" y="3181231"/>
            <a:ext cx="3740229" cy="91440"/>
          </a:xfrm>
          <a:prstGeom prst="roundRect">
            <a:avLst>
              <a:gd name="adj" fmla="val 95519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286060" y="2892266"/>
            <a:ext cx="623768" cy="623768"/>
          </a:xfrm>
          <a:prstGeom prst="roundRect">
            <a:avLst>
              <a:gd name="adj" fmla="val 146593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473226" y="3048238"/>
            <a:ext cx="249436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58572" y="3723918"/>
            <a:ext cx="2729389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Identify User Intent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58572" y="4189690"/>
            <a:ext cx="3278743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Accurately determine the user's goal from their banking queries.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75942" y="3204091"/>
            <a:ext cx="3740229" cy="2214682"/>
          </a:xfrm>
          <a:prstGeom prst="roundRect">
            <a:avLst>
              <a:gd name="adj" fmla="val 4955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675942" y="3181231"/>
            <a:ext cx="3740229" cy="91440"/>
          </a:xfrm>
          <a:prstGeom prst="roundRect">
            <a:avLst>
              <a:gd name="adj" fmla="val 95519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234172" y="2892266"/>
            <a:ext cx="623768" cy="623768"/>
          </a:xfrm>
          <a:prstGeom prst="roundRect">
            <a:avLst>
              <a:gd name="adj" fmla="val 146593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421338" y="3048238"/>
            <a:ext cx="249436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4906685" y="3723918"/>
            <a:ext cx="2729389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Extract Key Entities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4906685" y="4189690"/>
            <a:ext cx="3278743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Precisely pull out relevant information like amounts or account types.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27829" y="5938480"/>
            <a:ext cx="7688342" cy="1549122"/>
          </a:xfrm>
          <a:prstGeom prst="roundRect">
            <a:avLst>
              <a:gd name="adj" fmla="val 7083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727829" y="5915620"/>
            <a:ext cx="7688342" cy="91440"/>
          </a:xfrm>
          <a:prstGeom prst="roundRect">
            <a:avLst>
              <a:gd name="adj" fmla="val 95519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260116" y="5626656"/>
            <a:ext cx="623768" cy="623768"/>
          </a:xfrm>
          <a:prstGeom prst="roundRect">
            <a:avLst>
              <a:gd name="adj" fmla="val 146593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447282" y="5782628"/>
            <a:ext cx="249436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958572" y="6458307"/>
            <a:ext cx="2729389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 &amp; Validate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958572" y="6924080"/>
            <a:ext cx="7226856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and rigorously test the AI model for optimal performance.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60790" y="501610"/>
            <a:ext cx="1149072" cy="341948"/>
          </a:xfrm>
          <a:prstGeom prst="roundRect">
            <a:avLst>
              <a:gd name="adj" fmla="val 17879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69852" y="556141"/>
            <a:ext cx="930950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60790" y="916305"/>
            <a:ext cx="5442823" cy="597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Intent Design &amp; Training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1560790" y="1950006"/>
            <a:ext cx="5532358" cy="872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AI model is meticulously trained on specific banking intents, ensuring the chatbot comprehends the user's request accurately.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60790" y="3027640"/>
            <a:ext cx="5532358" cy="2664619"/>
          </a:xfrm>
          <a:prstGeom prst="roundRect">
            <a:avLst>
              <a:gd name="adj" fmla="val 286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68410" y="3035260"/>
            <a:ext cx="5517118" cy="662345"/>
          </a:xfrm>
          <a:prstGeom prst="roundRect">
            <a:avLst>
              <a:gd name="adj" fmla="val 11538"/>
            </a:avLst>
          </a:prstGeom>
          <a:solidFill>
            <a:srgbClr val="D3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750338" y="3217188"/>
            <a:ext cx="2388156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Check Balance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1568410" y="3697605"/>
            <a:ext cx="5517118" cy="662345"/>
          </a:xfrm>
          <a:prstGeom prst="rect">
            <a:avLst/>
          </a:prstGeom>
          <a:solidFill>
            <a:srgbClr val="D3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568410" y="3697605"/>
            <a:ext cx="5517118" cy="22860"/>
          </a:xfrm>
          <a:prstGeom prst="roundRect">
            <a:avLst>
              <a:gd name="adj" fmla="val 334303"/>
            </a:avLst>
          </a:prstGeom>
          <a:solidFill>
            <a:srgbClr val="B9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750338" y="3879533"/>
            <a:ext cx="2388156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Transfer Money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1568410" y="4359950"/>
            <a:ext cx="5517118" cy="662345"/>
          </a:xfrm>
          <a:prstGeom prst="rect">
            <a:avLst/>
          </a:prstGeom>
          <a:solidFill>
            <a:srgbClr val="D3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568410" y="4359950"/>
            <a:ext cx="5517118" cy="22860"/>
          </a:xfrm>
          <a:prstGeom prst="roundRect">
            <a:avLst>
              <a:gd name="adj" fmla="val 334303"/>
            </a:avLst>
          </a:prstGeom>
          <a:solidFill>
            <a:srgbClr val="B9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750338" y="4541877"/>
            <a:ext cx="2388156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Find ATM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1568410" y="5022294"/>
            <a:ext cx="5517118" cy="662345"/>
          </a:xfrm>
          <a:prstGeom prst="rect">
            <a:avLst/>
          </a:prstGeom>
          <a:solidFill>
            <a:srgbClr val="D3D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568410" y="5022294"/>
            <a:ext cx="5517118" cy="22860"/>
          </a:xfrm>
          <a:prstGeom prst="roundRect">
            <a:avLst>
              <a:gd name="adj" fmla="val 334303"/>
            </a:avLst>
          </a:prstGeom>
          <a:solidFill>
            <a:srgbClr val="B9C2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750338" y="5204222"/>
            <a:ext cx="2388156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Card Block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560790" y="5896928"/>
            <a:ext cx="5532358" cy="58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intent includes multiple examples to enhance model robustness and accuracy.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633" y="1990963"/>
            <a:ext cx="5532358" cy="55323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3047" y="421005"/>
            <a:ext cx="966788" cy="287655"/>
          </a:xfrm>
          <a:prstGeom prst="roundRect">
            <a:avLst>
              <a:gd name="adj" fmla="val 17885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564844" y="466844"/>
            <a:ext cx="783193" cy="195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473047" y="769858"/>
            <a:ext cx="5202198" cy="502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Precise Entity Classification</a:t>
            </a:r>
            <a:endParaRPr lang="en-US" sz="3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047" y="1674019"/>
            <a:ext cx="4655463" cy="46554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09510" y="1639610"/>
            <a:ext cx="4655463" cy="734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BankBot identifies and extracts critical entities from user queries, enabling personalized and accurate responses for banking transactions.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509510" y="2546509"/>
            <a:ext cx="4655463" cy="1000839"/>
          </a:xfrm>
          <a:prstGeom prst="roundRect">
            <a:avLst>
              <a:gd name="adj" fmla="val 1096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486650" y="2546509"/>
            <a:ext cx="91440" cy="1000839"/>
          </a:xfrm>
          <a:prstGeom prst="roundRect">
            <a:avLst>
              <a:gd name="adj" fmla="val 70327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53945" y="2722364"/>
            <a:ext cx="200953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Account Type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753945" y="3126581"/>
            <a:ext cx="423517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Savings, Checking, Credit Card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09510" y="3700343"/>
            <a:ext cx="4655463" cy="1000839"/>
          </a:xfrm>
          <a:prstGeom prst="roundRect">
            <a:avLst>
              <a:gd name="adj" fmla="val 1096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486650" y="3700343"/>
            <a:ext cx="91440" cy="1000839"/>
          </a:xfrm>
          <a:prstGeom prst="roundRect">
            <a:avLst>
              <a:gd name="adj" fmla="val 70327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753945" y="3876199"/>
            <a:ext cx="200953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Account Number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753945" y="4280416"/>
            <a:ext cx="423517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identifier for accounts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509510" y="4854178"/>
            <a:ext cx="4655463" cy="1000839"/>
          </a:xfrm>
          <a:prstGeom prst="roundRect">
            <a:avLst>
              <a:gd name="adj" fmla="val 1096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486650" y="4854178"/>
            <a:ext cx="91440" cy="1000839"/>
          </a:xfrm>
          <a:prstGeom prst="roundRect">
            <a:avLst>
              <a:gd name="adj" fmla="val 70327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753945" y="5030033"/>
            <a:ext cx="200953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Amount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753945" y="5434251"/>
            <a:ext cx="423517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Monetary value for transactions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509510" y="6008013"/>
            <a:ext cx="4655463" cy="1000839"/>
          </a:xfrm>
          <a:prstGeom prst="roundRect">
            <a:avLst>
              <a:gd name="adj" fmla="val 10964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7486650" y="6008013"/>
            <a:ext cx="91440" cy="1000839"/>
          </a:xfrm>
          <a:prstGeom prst="roundRect">
            <a:avLst>
              <a:gd name="adj" fmla="val 70327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753945" y="6183868"/>
            <a:ext cx="2009537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Card Number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7753945" y="6588085"/>
            <a:ext cx="4235172" cy="244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blocking or inquiries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509510" y="7181017"/>
            <a:ext cx="4655463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keywords further refine entity detection, and new entities can be easily integrated.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218" y="620792"/>
            <a:ext cx="1425654" cy="424220"/>
          </a:xfrm>
          <a:prstGeom prst="roundRect">
            <a:avLst>
              <a:gd name="adj" fmla="val 17883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5592" y="688419"/>
            <a:ext cx="1154906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0218" y="1135261"/>
            <a:ext cx="6681311" cy="740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Validation &amp; Confidence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790218" y="2417802"/>
            <a:ext cx="7609642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adaptation: New intents and examples can be added.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0218" y="2857857"/>
            <a:ext cx="7609642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improvement: Supports model retraining for enhanced performance.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0218" y="3659029"/>
            <a:ext cx="7609642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Rigorous testing: Intent and entity predictions are thoroughly validated.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0218" y="4460200"/>
            <a:ext cx="7609642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metric: Confidence scores ensure reliability and precision.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263" y="2468642"/>
            <a:ext cx="4889421" cy="48894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70784" y="616506"/>
            <a:ext cx="1451729" cy="421124"/>
          </a:xfrm>
          <a:prstGeom prst="roundRect">
            <a:avLst>
              <a:gd name="adj" fmla="val 17883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405205" y="683657"/>
            <a:ext cx="1182886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70784" y="1127165"/>
            <a:ext cx="7575233" cy="147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Objective: Conversational Flow &amp; Data Integration</a:t>
            </a:r>
            <a:endParaRPr lang="en-US" sz="4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784" y="2933938"/>
            <a:ext cx="1120616" cy="13446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5476" y="3158014"/>
            <a:ext cx="3292316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Build Conversation Flow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7615476" y="3660100"/>
            <a:ext cx="6230541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intuitive dialogue for each banking intent.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0784" y="4278630"/>
            <a:ext cx="1120616" cy="16672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15476" y="4502706"/>
            <a:ext cx="2970014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Create Intent Pipeline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7615476" y="5004792"/>
            <a:ext cx="6230541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dedicated processing pipelines for seamless execution.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0784" y="5945862"/>
            <a:ext cx="1120616" cy="16672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15476" y="6169938"/>
            <a:ext cx="3495794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Integrate SQLite Database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7615476" y="6672024"/>
            <a:ext cx="6230541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robust connection for secure data access and management.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3031" y="516136"/>
            <a:ext cx="1213366" cy="351711"/>
          </a:xfrm>
          <a:prstGeom prst="roundRect">
            <a:avLst>
              <a:gd name="adj" fmla="val 1789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505307" y="572214"/>
            <a:ext cx="988814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393031" y="942737"/>
            <a:ext cx="4915614" cy="614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Pipeline Architecture</a:t>
            </a:r>
            <a:endParaRPr lang="en-US" sz="3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847" y="1838087"/>
            <a:ext cx="11746706" cy="50655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32214" y="5934662"/>
            <a:ext cx="2798214" cy="349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Pipeline Execution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232214" y="4762077"/>
            <a:ext cx="2798214" cy="349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Entity Extraction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32214" y="3601337"/>
            <a:ext cx="2798214" cy="349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232214" y="2428752"/>
            <a:ext cx="2798214" cy="349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93031" y="7114223"/>
            <a:ext cx="11844338" cy="59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architecture ensures efficient processing of user requests, from initial query to final database interaction, supporting personalized multi-account management.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68210" y="473631"/>
            <a:ext cx="1115854" cy="323493"/>
          </a:xfrm>
          <a:prstGeom prst="roundRect">
            <a:avLst>
              <a:gd name="adj" fmla="val 1789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971437" y="525185"/>
            <a:ext cx="909399" cy="220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868210" y="865942"/>
            <a:ext cx="5710237" cy="565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Enhanced Chatbot Features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1868210" y="1882973"/>
            <a:ext cx="5236845" cy="1778675"/>
          </a:xfrm>
          <a:prstGeom prst="roundRect">
            <a:avLst>
              <a:gd name="adj" fmla="val 4067"/>
            </a:avLst>
          </a:prstGeom>
          <a:solidFill>
            <a:srgbClr val="CCEEFF"/>
          </a:solidFill>
          <a:ln w="762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047994" y="2062758"/>
            <a:ext cx="516612" cy="516612"/>
          </a:xfrm>
          <a:prstGeom prst="roundRect">
            <a:avLst>
              <a:gd name="adj" fmla="val 17698167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0036" y="2204799"/>
            <a:ext cx="232410" cy="2324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47994" y="2751534"/>
            <a:ext cx="2260521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Double Confirmation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2047994" y="3206234"/>
            <a:ext cx="4877276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security for sensitive transactions.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868210" y="3833813"/>
            <a:ext cx="5236845" cy="1778675"/>
          </a:xfrm>
          <a:prstGeom prst="roundRect">
            <a:avLst>
              <a:gd name="adj" fmla="val 4067"/>
            </a:avLst>
          </a:prstGeom>
          <a:solidFill>
            <a:srgbClr val="CCEEFF"/>
          </a:solidFill>
          <a:ln w="762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047994" y="4013597"/>
            <a:ext cx="516612" cy="516612"/>
          </a:xfrm>
          <a:prstGeom prst="roundRect">
            <a:avLst>
              <a:gd name="adj" fmla="val 17698167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90036" y="4155638"/>
            <a:ext cx="232410" cy="2324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47994" y="4702373"/>
            <a:ext cx="2260521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Account Dropdown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2047994" y="5157073"/>
            <a:ext cx="4877276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selection of available user accounts.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1868210" y="5784652"/>
            <a:ext cx="5236845" cy="1778675"/>
          </a:xfrm>
          <a:prstGeom prst="roundRect">
            <a:avLst>
              <a:gd name="adj" fmla="val 4067"/>
            </a:avLst>
          </a:prstGeom>
          <a:solidFill>
            <a:srgbClr val="CCEEFF"/>
          </a:solidFill>
          <a:ln w="7620">
            <a:solidFill>
              <a:srgbClr val="E7EE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2047994" y="5964436"/>
            <a:ext cx="516612" cy="516612"/>
          </a:xfrm>
          <a:prstGeom prst="roundRect">
            <a:avLst>
              <a:gd name="adj" fmla="val 17698167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90036" y="6106478"/>
            <a:ext cx="232410" cy="2324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47994" y="6653213"/>
            <a:ext cx="2260521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Card Removal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2047994" y="7107912"/>
            <a:ext cx="4877276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Securely removes blocked cards from the database.</a:t>
            </a:r>
            <a:endParaRPr lang="en-US" sz="13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2727" y="1882973"/>
            <a:ext cx="5236845" cy="52368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7236" y="587097"/>
            <a:ext cx="1383030" cy="401241"/>
          </a:xfrm>
          <a:prstGeom prst="roundRect">
            <a:avLst>
              <a:gd name="adj" fmla="val 17879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75228" y="651034"/>
            <a:ext cx="1127046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7236" y="1073706"/>
            <a:ext cx="7583210" cy="70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Analytics &amp; Robust Outcomes</a:t>
            </a:r>
            <a:endParaRPr lang="en-US" sz="4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36" y="2094309"/>
            <a:ext cx="4200763" cy="42007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7236" y="6508552"/>
            <a:ext cx="2802255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Spending Analytics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47236" y="6986826"/>
            <a:ext cx="4200763" cy="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derived from transaction data for financial oversight.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818" y="2094309"/>
            <a:ext cx="4200763" cy="42007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4818" y="6508552"/>
            <a:ext cx="2802255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Updates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4818" y="6986826"/>
            <a:ext cx="4200763" cy="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reflects changes instantly for up-to-date information.</a:t>
            </a:r>
            <a:endParaRPr lang="en-US" sz="16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2401" y="2094309"/>
            <a:ext cx="4200763" cy="42007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82401" y="6508552"/>
            <a:ext cx="2802255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Stable &amp; Secure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82401" y="6986826"/>
            <a:ext cx="4200763" cy="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a reliable and protected conversational environment.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897017"/>
            <a:ext cx="1470660" cy="426244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416278" y="965002"/>
            <a:ext cx="119848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1413986"/>
            <a:ext cx="729555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LLM Integration: Objective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6280190" y="2498408"/>
            <a:ext cx="7556421" cy="1460183"/>
          </a:xfrm>
          <a:prstGeom prst="roundRect">
            <a:avLst>
              <a:gd name="adj" fmla="val 6524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310670" y="2528888"/>
            <a:ext cx="907256" cy="1399222"/>
          </a:xfrm>
          <a:prstGeom prst="roundRect">
            <a:avLst>
              <a:gd name="adj" fmla="val 6469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590348" y="30158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7444740" y="2755702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Broadened Scope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444740" y="3338393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non-banking specific user queries.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0190" y="4185404"/>
            <a:ext cx="7556421" cy="1460183"/>
          </a:xfrm>
          <a:prstGeom prst="roundRect">
            <a:avLst>
              <a:gd name="adj" fmla="val 6524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10670" y="4215884"/>
            <a:ext cx="907256" cy="1399222"/>
          </a:xfrm>
          <a:prstGeom prst="roundRect">
            <a:avLst>
              <a:gd name="adj" fmla="val 6469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590348" y="470285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444740" y="4442698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Seamless Integration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444740" y="5025390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LLM into existing chatbot architecture.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6280190" y="5872401"/>
            <a:ext cx="7556421" cy="1460183"/>
          </a:xfrm>
          <a:prstGeom prst="roundRect">
            <a:avLst>
              <a:gd name="adj" fmla="val 6524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310670" y="5902881"/>
            <a:ext cx="907256" cy="1399222"/>
          </a:xfrm>
          <a:prstGeom prst="roundRect">
            <a:avLst>
              <a:gd name="adj" fmla="val 6469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590348" y="638984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650" dirty="0"/>
          </a:p>
        </p:txBody>
      </p:sp>
      <p:sp>
        <p:nvSpPr>
          <p:cNvPr id="19" name="Text 16"/>
          <p:cNvSpPr/>
          <p:nvPr/>
        </p:nvSpPr>
        <p:spPr>
          <a:xfrm>
            <a:off x="7444740" y="6129695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Preservation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7444740" y="6712387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 and protect existing banking intent pipelines.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44804" y="442317"/>
            <a:ext cx="1039654" cy="301109"/>
          </a:xfrm>
          <a:prstGeom prst="roundRect">
            <a:avLst>
              <a:gd name="adj" fmla="val 17891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340888" y="490299"/>
            <a:ext cx="847487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44804" y="807482"/>
            <a:ext cx="4208502" cy="526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Decision Logic Flow</a:t>
            </a:r>
            <a:endParaRPr lang="en-US" sz="3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719" y="1573887"/>
            <a:ext cx="9976723" cy="49044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08586" y="1998025"/>
            <a:ext cx="2395685" cy="299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Non-Banking Query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208586" y="2378610"/>
            <a:ext cx="4613913" cy="22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 to LLM model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7556" y="2140151"/>
            <a:ext cx="324495" cy="3244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08586" y="3143898"/>
            <a:ext cx="2395685" cy="299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Banking Query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208586" y="3524483"/>
            <a:ext cx="4613913" cy="22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to banking pipeline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7556" y="3133916"/>
            <a:ext cx="324495" cy="3244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08586" y="4289771"/>
            <a:ext cx="2395685" cy="299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Intent Classifier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208586" y="4670356"/>
            <a:ext cx="4613913" cy="22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by intent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07556" y="4117542"/>
            <a:ext cx="324495" cy="3244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18727" y="5435644"/>
            <a:ext cx="2395685" cy="299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7218727" y="5816228"/>
            <a:ext cx="4613913" cy="22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Incoming user request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07556" y="5263415"/>
            <a:ext cx="324495" cy="324495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04931" y="6663511"/>
            <a:ext cx="240387" cy="24038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765703" y="6658570"/>
            <a:ext cx="2104192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Intent Classification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2765703" y="7017544"/>
            <a:ext cx="2725698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query first routed through an intelligent intent classifier.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51909" y="6663511"/>
            <a:ext cx="240387" cy="24038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212681" y="6658570"/>
            <a:ext cx="2104192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Banking Path</a:t>
            </a:r>
            <a:endParaRPr lang="en-US" sz="1650" dirty="0"/>
          </a:p>
        </p:txBody>
      </p:sp>
      <p:sp>
        <p:nvSpPr>
          <p:cNvPr id="23" name="Text 14"/>
          <p:cNvSpPr/>
          <p:nvPr/>
        </p:nvSpPr>
        <p:spPr>
          <a:xfrm>
            <a:off x="6212681" y="7017544"/>
            <a:ext cx="2725698" cy="769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Banking-related queries are directed to the specialized banking pipeline.</a:t>
            </a:r>
            <a:endParaRPr lang="en-US" sz="12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98888" y="6663511"/>
            <a:ext cx="240387" cy="240387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659660" y="6658570"/>
            <a:ext cx="2104192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LLM Path</a:t>
            </a:r>
            <a:endParaRPr lang="en-US" sz="1650" dirty="0"/>
          </a:p>
        </p:txBody>
      </p:sp>
      <p:sp>
        <p:nvSpPr>
          <p:cNvPr id="26" name="Text 16"/>
          <p:cNvSpPr/>
          <p:nvPr/>
        </p:nvSpPr>
        <p:spPr>
          <a:xfrm>
            <a:off x="9659660" y="7017544"/>
            <a:ext cx="2725698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Non-banking queries are forwarded to the LLM model for processing.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1267301"/>
            <a:ext cx="1470660" cy="426244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416278" y="1335286"/>
            <a:ext cx="119848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1784271"/>
            <a:ext cx="707826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Dynamic Integration Flow</a:t>
            </a:r>
            <a:endParaRPr lang="en-US" sz="4650" dirty="0"/>
          </a:p>
        </p:txBody>
      </p:sp>
      <p:sp>
        <p:nvSpPr>
          <p:cNvPr id="6" name="Text 3"/>
          <p:cNvSpPr/>
          <p:nvPr/>
        </p:nvSpPr>
        <p:spPr>
          <a:xfrm>
            <a:off x="6280190" y="286869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3223736"/>
            <a:ext cx="3664744" cy="3048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280190" y="33980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Confidence Check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280190" y="3906203"/>
            <a:ext cx="36647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confidence score evaluated after initial classification.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171748" y="286869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10171748" y="3223736"/>
            <a:ext cx="3664863" cy="3048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171748" y="33980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LLM Hand-off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10171748" y="3906203"/>
            <a:ext cx="36648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confidence or non-banking queries are seamlessly directed to the LLM.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280190" y="539174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280190" y="5746790"/>
            <a:ext cx="7556421" cy="30480"/>
          </a:xfrm>
          <a:prstGeom prst="rect">
            <a:avLst/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280190" y="592109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Unified Response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6280190" y="64292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coherent, single response is generated and returned to the user.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31558"/>
            <a:ext cx="1470660" cy="426244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1099542"/>
            <a:ext cx="119848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48527"/>
            <a:ext cx="811351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Hybrid Architecture Outcome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2055614" y="307217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Hybrid Architecture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3580328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blend of rule-based and LLM-powered responses.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1846" y="3749278"/>
            <a:ext cx="318968" cy="31896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9" name="Text 5"/>
          <p:cNvSpPr/>
          <p:nvPr/>
        </p:nvSpPr>
        <p:spPr>
          <a:xfrm>
            <a:off x="9597628" y="307217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Enhanced Flexibility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9597628" y="3580328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conversational capabilities for diverse user inputs.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73611" y="6362105"/>
            <a:ext cx="318968" cy="3189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97628" y="552473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Banking Integrity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9597628" y="6032897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adverse impact on critical banking operations or security.</a:t>
            </a:r>
            <a:endParaRPr lang="en-US" sz="17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86713" y="5587008"/>
            <a:ext cx="318968" cy="3189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055614" y="552473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Robust System</a:t>
            </a:r>
            <a:endParaRPr lang="en-US" sz="2300" dirty="0"/>
          </a:p>
        </p:txBody>
      </p:sp>
      <p:sp>
        <p:nvSpPr>
          <p:cNvPr id="18" name="Text 10"/>
          <p:cNvSpPr/>
          <p:nvPr/>
        </p:nvSpPr>
        <p:spPr>
          <a:xfrm>
            <a:off x="793790" y="6032897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more adaptable and resilient chatbot solution.</a:t>
            </a:r>
            <a:endParaRPr lang="en-US" sz="17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40485" y="5952933"/>
            <a:ext cx="885731" cy="885731"/>
          </a:xfrm>
          <a:prstGeom prst="rect">
            <a:avLst/>
          </a:prstGeom>
        </p:spPr>
      </p:pic>
      <p:sp>
        <p:nvSpPr>
          <p:cNvPr id="21" name="Teardrop 20">
            <a:extLst>
              <a:ext uri="{FF2B5EF4-FFF2-40B4-BE49-F238E27FC236}">
                <a16:creationId xmlns:a16="http://schemas.microsoft.com/office/drawing/2014/main" id="{E512FBCD-4228-C080-364E-2A604D04E74A}"/>
              </a:ext>
            </a:extLst>
          </p:cNvPr>
          <p:cNvSpPr/>
          <p:nvPr/>
        </p:nvSpPr>
        <p:spPr>
          <a:xfrm>
            <a:off x="5338128" y="5328999"/>
            <a:ext cx="1910000" cy="2251800"/>
          </a:xfrm>
          <a:prstGeom prst="teardrop">
            <a:avLst>
              <a:gd name="adj" fmla="val 109309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ardrop 21">
            <a:extLst>
              <a:ext uri="{FF2B5EF4-FFF2-40B4-BE49-F238E27FC236}">
                <a16:creationId xmlns:a16="http://schemas.microsoft.com/office/drawing/2014/main" id="{5CB9F92A-1757-634D-C418-FC67930D14D1}"/>
              </a:ext>
            </a:extLst>
          </p:cNvPr>
          <p:cNvSpPr/>
          <p:nvPr/>
        </p:nvSpPr>
        <p:spPr>
          <a:xfrm flipV="1">
            <a:off x="5338128" y="2702644"/>
            <a:ext cx="1910000" cy="2251799"/>
          </a:xfrm>
          <a:prstGeom prst="teardrop">
            <a:avLst>
              <a:gd name="adj" fmla="val 109309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lang="en-IN" dirty="0"/>
          </a:p>
        </p:txBody>
      </p:sp>
      <p:sp>
        <p:nvSpPr>
          <p:cNvPr id="23" name="Teardrop 22">
            <a:extLst>
              <a:ext uri="{FF2B5EF4-FFF2-40B4-BE49-F238E27FC236}">
                <a16:creationId xmlns:a16="http://schemas.microsoft.com/office/drawing/2014/main" id="{7A6DE6B3-7AD8-7E2E-02C3-4705BA397683}"/>
              </a:ext>
            </a:extLst>
          </p:cNvPr>
          <p:cNvSpPr/>
          <p:nvPr/>
        </p:nvSpPr>
        <p:spPr>
          <a:xfrm flipH="1">
            <a:off x="7637580" y="5328999"/>
            <a:ext cx="1813838" cy="2251800"/>
          </a:xfrm>
          <a:prstGeom prst="teardrop">
            <a:avLst>
              <a:gd name="adj" fmla="val 109309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ardrop 23">
            <a:extLst>
              <a:ext uri="{FF2B5EF4-FFF2-40B4-BE49-F238E27FC236}">
                <a16:creationId xmlns:a16="http://schemas.microsoft.com/office/drawing/2014/main" id="{FDD0BBF5-95E1-38C1-1A8B-B86F34CBFE5F}"/>
              </a:ext>
            </a:extLst>
          </p:cNvPr>
          <p:cNvSpPr/>
          <p:nvPr/>
        </p:nvSpPr>
        <p:spPr>
          <a:xfrm flipH="1" flipV="1">
            <a:off x="7637580" y="2754329"/>
            <a:ext cx="1909999" cy="2175458"/>
          </a:xfrm>
          <a:prstGeom prst="teardrop">
            <a:avLst>
              <a:gd name="adj" fmla="val 109309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2361" y="623173"/>
            <a:ext cx="1472684" cy="425410"/>
          </a:xfrm>
          <a:prstGeom prst="roundRect">
            <a:avLst>
              <a:gd name="adj" fmla="val 17882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928092" y="691039"/>
            <a:ext cx="1201222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2361" y="1139071"/>
            <a:ext cx="755927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&amp; Analytics: Objective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792361" y="2964537"/>
            <a:ext cx="905589" cy="1396365"/>
          </a:xfrm>
          <a:prstGeom prst="roundRect">
            <a:avLst>
              <a:gd name="adj" fmla="val 36001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075373" y="3450431"/>
            <a:ext cx="339566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924288" y="3190875"/>
            <a:ext cx="3565922" cy="44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Creation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924288" y="3772257"/>
            <a:ext cx="642735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comprehensive admin dashboard.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2361" y="4587240"/>
            <a:ext cx="905589" cy="1396365"/>
          </a:xfrm>
          <a:prstGeom prst="roundRect">
            <a:avLst>
              <a:gd name="adj" fmla="val 36001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75373" y="5073134"/>
            <a:ext cx="339566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1924288" y="4813578"/>
            <a:ext cx="3565922" cy="44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Activity Monitoring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924288" y="5394960"/>
            <a:ext cx="642735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real-time tracking of chatbot interactions.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2361" y="6209943"/>
            <a:ext cx="905589" cy="1396365"/>
          </a:xfrm>
          <a:prstGeom prst="roundRect">
            <a:avLst>
              <a:gd name="adj" fmla="val 36001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075373" y="6695837"/>
            <a:ext cx="339566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3"/>
          <p:cNvSpPr/>
          <p:nvPr/>
        </p:nvSpPr>
        <p:spPr>
          <a:xfrm>
            <a:off x="1924288" y="6436281"/>
            <a:ext cx="3565922" cy="44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Management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924288" y="7017663"/>
            <a:ext cx="642735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 training data and intent management.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256" y="669727"/>
            <a:ext cx="977622" cy="282416"/>
          </a:xfrm>
          <a:prstGeom prst="roundRect">
            <a:avLst>
              <a:gd name="adj" fmla="val 17892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16387" y="714732"/>
            <a:ext cx="797362" cy="19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6256" y="1012269"/>
            <a:ext cx="6552724" cy="49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Chat History &amp; Confidence Tracking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26256" y="1956792"/>
            <a:ext cx="8091488" cy="1118830"/>
          </a:xfrm>
          <a:prstGeom prst="roundRect">
            <a:avLst>
              <a:gd name="adj" fmla="val 6538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26256" y="1941552"/>
            <a:ext cx="8091488" cy="60960"/>
          </a:xfrm>
          <a:prstGeom prst="roundRect">
            <a:avLst>
              <a:gd name="adj" fmla="val 10361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346436" y="1731288"/>
            <a:ext cx="451128" cy="451128"/>
          </a:xfrm>
          <a:prstGeom prst="roundRect">
            <a:avLst>
              <a:gd name="adj" fmla="val 202692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481810" y="1844040"/>
            <a:ext cx="180380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1872" y="2332673"/>
            <a:ext cx="197369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Timestamped History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91872" y="2669500"/>
            <a:ext cx="7760256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chat logs with precise timing for each interaction.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26256" y="3451503"/>
            <a:ext cx="8091488" cy="1118830"/>
          </a:xfrm>
          <a:prstGeom prst="roundRect">
            <a:avLst>
              <a:gd name="adj" fmla="val 6538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26256" y="3436263"/>
            <a:ext cx="8091488" cy="60960"/>
          </a:xfrm>
          <a:prstGeom prst="roundRect">
            <a:avLst>
              <a:gd name="adj" fmla="val 10361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346436" y="3225998"/>
            <a:ext cx="451128" cy="451128"/>
          </a:xfrm>
          <a:prstGeom prst="roundRect">
            <a:avLst>
              <a:gd name="adj" fmla="val 202692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481810" y="3338751"/>
            <a:ext cx="180380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1872" y="3827383"/>
            <a:ext cx="197369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Confidence Scores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91872" y="4164211"/>
            <a:ext cx="7760256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Visibility into the AI's confidence levels for intent predictions.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26256" y="4946213"/>
            <a:ext cx="8091488" cy="1118830"/>
          </a:xfrm>
          <a:prstGeom prst="roundRect">
            <a:avLst>
              <a:gd name="adj" fmla="val 6538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26256" y="4930973"/>
            <a:ext cx="8091488" cy="60960"/>
          </a:xfrm>
          <a:prstGeom prst="roundRect">
            <a:avLst>
              <a:gd name="adj" fmla="val 10361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346436" y="4720709"/>
            <a:ext cx="451128" cy="451128"/>
          </a:xfrm>
          <a:prstGeom prst="roundRect">
            <a:avLst>
              <a:gd name="adj" fmla="val 202692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481810" y="4833461"/>
            <a:ext cx="180380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91872" y="5322094"/>
            <a:ext cx="197369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Intent-wise Tracking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91872" y="5658922"/>
            <a:ext cx="7760256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history organized by predicted intent.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26256" y="6440924"/>
            <a:ext cx="8091488" cy="1118830"/>
          </a:xfrm>
          <a:prstGeom prst="roundRect">
            <a:avLst>
              <a:gd name="adj" fmla="val 6538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526256" y="6425684"/>
            <a:ext cx="8091488" cy="60960"/>
          </a:xfrm>
          <a:prstGeom prst="roundRect">
            <a:avLst>
              <a:gd name="adj" fmla="val 103610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346436" y="6215420"/>
            <a:ext cx="451128" cy="451128"/>
          </a:xfrm>
          <a:prstGeom prst="roundRect">
            <a:avLst>
              <a:gd name="adj" fmla="val 202692"/>
            </a:avLst>
          </a:prstGeom>
          <a:solidFill>
            <a:srgbClr val="007E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481810" y="6328172"/>
            <a:ext cx="180380" cy="225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91872" y="6816804"/>
            <a:ext cx="197369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Interaction Insights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691872" y="7153632"/>
            <a:ext cx="7760256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patterns and areas for improvement in user interactions.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89528"/>
            <a:ext cx="1475780" cy="426244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29878" y="1057513"/>
            <a:ext cx="12036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06498"/>
            <a:ext cx="969228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Analytics Dashboard Visualizations</a:t>
            </a:r>
            <a:endParaRPr lang="en-US" sz="4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90919"/>
            <a:ext cx="4158615" cy="25702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53879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Intent-wise Analytics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93790" y="589609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Breakdown of interactions by recognized user intents.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590919"/>
            <a:ext cx="4158615" cy="25702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53879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Entity-wise Analytics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5235893" y="589609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of extracted entities across user queries.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590919"/>
            <a:ext cx="4158615" cy="25702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53879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Time-wise Analytics</a:t>
            </a:r>
            <a:endParaRPr lang="en-US" sz="2300" dirty="0"/>
          </a:p>
        </p:txBody>
      </p:sp>
      <p:sp>
        <p:nvSpPr>
          <p:cNvPr id="13" name="Text 8"/>
          <p:cNvSpPr/>
          <p:nvPr/>
        </p:nvSpPr>
        <p:spPr>
          <a:xfrm>
            <a:off x="9677995" y="589609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user query trends and system performance over time.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793790" y="68770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dashboards provide actionable insights into chatbot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397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9140" y="3220403"/>
            <a:ext cx="1373981" cy="396954"/>
          </a:xfrm>
          <a:prstGeom prst="roundRect">
            <a:avLst>
              <a:gd name="adj" fmla="val 17876"/>
            </a:avLst>
          </a:prstGeom>
          <a:solidFill>
            <a:srgbClr val="CC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865823" y="3283744"/>
            <a:ext cx="1120616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9140" y="3701772"/>
            <a:ext cx="7123509" cy="692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 &amp; Control Features</a:t>
            </a:r>
            <a:endParaRPr lang="en-US" sz="4350" dirty="0"/>
          </a:p>
        </p:txBody>
      </p:sp>
      <p:sp>
        <p:nvSpPr>
          <p:cNvPr id="6" name="Shape 3"/>
          <p:cNvSpPr/>
          <p:nvPr/>
        </p:nvSpPr>
        <p:spPr>
          <a:xfrm>
            <a:off x="739140" y="4711422"/>
            <a:ext cx="475059" cy="475059"/>
          </a:xfrm>
          <a:prstGeom prst="roundRect">
            <a:avLst>
              <a:gd name="adj" fmla="val 18671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10399" y="4741069"/>
            <a:ext cx="332542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425297" y="4750951"/>
            <a:ext cx="3326130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Intent Management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425297" y="5293400"/>
            <a:ext cx="5757863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Ability to add and define new intents for expanded functionality.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47121" y="4711422"/>
            <a:ext cx="475059" cy="475059"/>
          </a:xfrm>
          <a:prstGeom prst="roundRect">
            <a:avLst>
              <a:gd name="adj" fmla="val 18671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518380" y="4741069"/>
            <a:ext cx="332542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133278" y="4750951"/>
            <a:ext cx="3326130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 Data Editor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133278" y="5293400"/>
            <a:ext cx="5757982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and refine training examples to improve model accuracy.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39140" y="6391513"/>
            <a:ext cx="475059" cy="475059"/>
          </a:xfrm>
          <a:prstGeom prst="roundRect">
            <a:avLst>
              <a:gd name="adj" fmla="val 18671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10399" y="6421160"/>
            <a:ext cx="332542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425297" y="6431042"/>
            <a:ext cx="3326130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Retraining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425297" y="6973491"/>
            <a:ext cx="5757863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Initiate model retraining cycles with updated data for continuous improvement.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7447121" y="6391513"/>
            <a:ext cx="475059" cy="475059"/>
          </a:xfrm>
          <a:prstGeom prst="roundRect">
            <a:avLst>
              <a:gd name="adj" fmla="val 18671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518380" y="6421160"/>
            <a:ext cx="332542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133278" y="6431042"/>
            <a:ext cx="3326130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 History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8133278" y="6973491"/>
            <a:ext cx="5757982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detailed history of training sessions and model versions.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A59DB1-2818-11AB-43E0-2C9E6FE5E3F9}"/>
              </a:ext>
            </a:extLst>
          </p:cNvPr>
          <p:cNvSpPr txBox="1"/>
          <p:nvPr/>
        </p:nvSpPr>
        <p:spPr>
          <a:xfrm>
            <a:off x="4381500" y="3253701"/>
            <a:ext cx="100965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chemeClr val="accent1">
                    <a:lumMod val="75000"/>
                  </a:schemeClr>
                </a:solidFill>
              </a:rPr>
              <a:t>THANKYOU</a:t>
            </a:r>
            <a:endParaRPr lang="en-IN" sz="88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189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832</Words>
  <Application>Microsoft Office PowerPoint</Application>
  <PresentationFormat>Custom</PresentationFormat>
  <Paragraphs>191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Petrona Light</vt:lpstr>
      <vt:lpstr>Calibri</vt:lpstr>
      <vt:lpstr>Petrona 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Monika V</cp:lastModifiedBy>
  <cp:revision>1</cp:revision>
  <dcterms:created xsi:type="dcterms:W3CDTF">2026-01-16T20:38:52Z</dcterms:created>
  <dcterms:modified xsi:type="dcterms:W3CDTF">2026-01-17T13:15:19Z</dcterms:modified>
</cp:coreProperties>
</file>